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72" r:id="rId5"/>
    <p:sldId id="269" r:id="rId6"/>
    <p:sldId id="257" r:id="rId7"/>
    <p:sldId id="273" r:id="rId8"/>
    <p:sldId id="274" r:id="rId9"/>
    <p:sldId id="275" r:id="rId10"/>
    <p:sldId id="276" r:id="rId11"/>
    <p:sldId id="277" r:id="rId12"/>
    <p:sldId id="278" r:id="rId13"/>
    <p:sldId id="280" r:id="rId14"/>
    <p:sldId id="279" r:id="rId15"/>
    <p:sldId id="282" r:id="rId16"/>
    <p:sldId id="281" r:id="rId17"/>
    <p:sldId id="285" r:id="rId18"/>
    <p:sldId id="284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rim singh" initials="as" lastIdx="1" clrIdx="0">
    <p:extLst>
      <p:ext uri="{19B8F6BF-5375-455C-9EA6-DF929625EA0E}">
        <p15:presenceInfo xmlns:p15="http://schemas.microsoft.com/office/powerpoint/2012/main" userId="3c6763845c5457e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37" autoAdjust="0"/>
    <p:restoredTop sz="95033" autoAdjust="0"/>
  </p:normalViewPr>
  <p:slideViewPr>
    <p:cSldViewPr snapToGrid="0">
      <p:cViewPr varScale="1">
        <p:scale>
          <a:sx n="72" d="100"/>
          <a:sy n="72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6C350-9C76-435B-AD98-86E990B2383B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8C9F8-39F8-46BF-91EA-C3AA6EEFF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88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29400" cy="37306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F18245-C62A-4396-BD86-3344DB07831F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A GIS BASED QUANTITATIVE MODEL FOR LANDSLIDE   SUSCEPTIBILITY MAPPING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Department of Computer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4390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07944-A4D2-864D-AA51-A86490CB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9BF7E-882C-242C-F3A5-0A4503BEC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2BBF6-0052-C081-218E-255BC2CB3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3FD8-D2A3-F6F6-23E1-8014A6247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8C9F8-39F8-46BF-91EA-C3AA6EEFF75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928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8C9F8-39F8-46BF-91EA-C3AA6EEFF75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03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423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235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34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948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24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3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74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26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0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69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CBFDA-D0BE-45D2-9A4B-3951E0400864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21845-0DD1-4CCA-9D4E-122B4E7EE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14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y70/Sentiment-Analysis-Majita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4112" y="389354"/>
            <a:ext cx="10831287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Presentation on </a:t>
            </a:r>
          </a:p>
          <a:p>
            <a:pPr algn="ctr"/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Analysis of Google Reviews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37291" y="3447127"/>
            <a:ext cx="12144927" cy="4136572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sz="2000" i="1" dirty="0">
                <a:solidFill>
                  <a:schemeClr val="tx1"/>
                </a:solidFill>
              </a:rPr>
              <a:t> </a:t>
            </a:r>
          </a:p>
          <a:p>
            <a:pPr marL="109728" indent="0" algn="ctr">
              <a:buNone/>
            </a:pP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  <a:p>
            <a:pPr marL="109728" indent="0" algn="ctr">
              <a:buNone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marL="109728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Rajdeep Dey (</a:t>
            </a:r>
            <a:r>
              <a:rPr lang="en-US" sz="2000" u="sng" dirty="0">
                <a:latin typeface="Times New Roman" panose="02020603050405020304" pitchFamily="18" charset="0"/>
                <a:cs typeface="Times New Roman" pitchFamily="18" charset="0"/>
              </a:rPr>
              <a:t>202300325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)</a:t>
            </a:r>
          </a:p>
          <a:p>
            <a:pPr marL="0" indent="0" algn="ctr">
              <a:buNone/>
            </a:pPr>
            <a:endParaRPr lang="en-US" sz="2000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000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IN" sz="20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313941" y="8724901"/>
            <a:ext cx="2847975" cy="95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FF4D-9703-46B8-851C-DA8FCFE4D55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Shape 4">
            <a:extLst>
              <a:ext uri="{FF2B5EF4-FFF2-40B4-BE49-F238E27FC236}">
                <a16:creationId xmlns:a16="http://schemas.microsoft.com/office/drawing/2014/main" id="{B61AE0B2-4A25-6E6D-DB14-15026A47123E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A2D1D65-311D-E195-8A0A-6E1CFD21C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4" name="CustomShape 5">
            <a:extLst>
              <a:ext uri="{FF2B5EF4-FFF2-40B4-BE49-F238E27FC236}">
                <a16:creationId xmlns:a16="http://schemas.microsoft.com/office/drawing/2014/main" id="{F434C624-C007-72FC-CDDA-B283938020A7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60ACBD-38D2-BAC5-5F17-60AB1FB63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641" y="2077619"/>
            <a:ext cx="4086225" cy="1114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9F1126-3352-D4C2-A209-5F1344AF210F}"/>
              </a:ext>
            </a:extLst>
          </p:cNvPr>
          <p:cNvSpPr txBox="1"/>
          <p:nvPr/>
        </p:nvSpPr>
        <p:spPr>
          <a:xfrm>
            <a:off x="4146698" y="1517528"/>
            <a:ext cx="461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Restaurants in Majitar, East Sikkim (737136)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E63DE6-9638-D19A-DF32-7560CD0DA0B9}"/>
              </a:ext>
            </a:extLst>
          </p:cNvPr>
          <p:cNvSpPr txBox="1"/>
          <p:nvPr/>
        </p:nvSpPr>
        <p:spPr>
          <a:xfrm>
            <a:off x="4040372" y="5820061"/>
            <a:ext cx="4827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Dept. of  AI&amp;DS, SMIT, </a:t>
            </a:r>
            <a:r>
              <a:rPr lang="en-US" dirty="0" err="1"/>
              <a:t>Majhitar</a:t>
            </a:r>
            <a:r>
              <a:rPr lang="en-US" dirty="0"/>
              <a:t>, East Sikkim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DCB89-E7B3-BE8F-EB60-DB60C38F8699}"/>
              </a:ext>
            </a:extLst>
          </p:cNvPr>
          <p:cNvSpPr txBox="1"/>
          <p:nvPr/>
        </p:nvSpPr>
        <p:spPr>
          <a:xfrm>
            <a:off x="3737928" y="5022219"/>
            <a:ext cx="6060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Course: Text Analysis &amp;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88763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139" y="428474"/>
            <a:ext cx="10515600" cy="1325563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4A369114-FDBA-C059-3776-E1430D2DF434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AI&amp;DS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5BD7044-44D3-4CEA-6BC9-2E9207D91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8" name="CustomShape 5">
            <a:extLst>
              <a:ext uri="{FF2B5EF4-FFF2-40B4-BE49-F238E27FC236}">
                <a16:creationId xmlns:a16="http://schemas.microsoft.com/office/drawing/2014/main" id="{57E3D6AB-1FEF-ED7C-3D14-3CFC87C39E6A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E2452-00BD-321E-CEBB-AA0F5A7526E7}"/>
              </a:ext>
            </a:extLst>
          </p:cNvPr>
          <p:cNvSpPr txBox="1"/>
          <p:nvPr/>
        </p:nvSpPr>
        <p:spPr>
          <a:xfrm>
            <a:off x="1217871" y="1701234"/>
            <a:ext cx="1164907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spc="25" dirty="0">
                <a:solidFill>
                  <a:srgbClr val="000000"/>
                </a:solidFill>
                <a:ea typeface="TT Rounds Condensed"/>
                <a:cs typeface="Times New Roman" panose="02020603050405020304" pitchFamily="18" charset="0"/>
                <a:sym typeface="TT Rounds Condensed"/>
              </a:rPr>
              <a:t>INTRODUCTION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TEXT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FEATURE EXTRACCTION (TF-IDF)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MODEL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RESULTS AND EVALUATION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SAMPLE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PROJECT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52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57E8F3CE-9364-8D03-1C84-321C0E991379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DE67630-AE6E-A112-34CD-EDF14FD6C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706025-7AD2-EC8E-096F-54E07E08729D}"/>
              </a:ext>
            </a:extLst>
          </p:cNvPr>
          <p:cNvSpPr txBox="1"/>
          <p:nvPr/>
        </p:nvSpPr>
        <p:spPr>
          <a:xfrm>
            <a:off x="264041" y="1267083"/>
            <a:ext cx="114955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SENTIMENT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An NLP technique that automatically identifies and classifies the emotional tone (opinion) in a piece of text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It helps analyze customer opinions from reviews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Widely used in business decision making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1A2B4A"/>
                </a:solidFill>
              </a:rPr>
              <a:t>It classified into: -</a:t>
            </a:r>
            <a:endParaRPr lang="en-US" sz="2000" dirty="0">
              <a:solidFill>
                <a:srgbClr val="1A2B4A"/>
              </a:solidFill>
            </a:endParaRPr>
          </a:p>
        </p:txBody>
      </p:sp>
      <p:sp>
        <p:nvSpPr>
          <p:cNvPr id="17" name="CustomShape 5">
            <a:extLst>
              <a:ext uri="{FF2B5EF4-FFF2-40B4-BE49-F238E27FC236}">
                <a16:creationId xmlns:a16="http://schemas.microsoft.com/office/drawing/2014/main" id="{01A07F23-1BED-D322-2A4A-B60B40D92768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5763CE-7EFF-8CA1-DBE0-720A8C4A9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87" y="2970027"/>
            <a:ext cx="10593274" cy="325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0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88D4-1254-9051-BE92-3B42052B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213C-25AD-4D7C-6221-454F77B4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/>
              <a:t>Problem Statement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208FCE42-2B3F-CC54-09BC-42E7D74C62D4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66B9259-7B54-F2D9-852D-6C4CEFFC0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8438AE53-AB1C-5070-8491-3DAC339E5EA7}"/>
              </a:ext>
            </a:extLst>
          </p:cNvPr>
          <p:cNvSpPr/>
          <p:nvPr/>
        </p:nvSpPr>
        <p:spPr>
          <a:xfrm>
            <a:off x="677405" y="1579877"/>
            <a:ext cx="10515600" cy="4862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Restaurants in Majitar receive hundreds of online Google reviews every month</a:t>
            </a:r>
            <a:endParaRPr lang="en-US" sz="2400" dirty="0">
              <a:solidFill>
                <a:prstClr val="black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Reading each review manually is time-consuming and impractical</a:t>
            </a:r>
            <a:endParaRPr lang="en-US" sz="2400" dirty="0">
              <a:solidFill>
                <a:prstClr val="black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Business owners cannot quickly identify customer pain-points from raw text</a:t>
            </a:r>
            <a:endParaRPr lang="en-US" sz="2400" dirty="0">
              <a:solidFill>
                <a:prstClr val="black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There is no automated system to classify review sentiment for local restaurants</a:t>
            </a:r>
            <a:endParaRPr lang="en-US" sz="2400" dirty="0">
              <a:solidFill>
                <a:prstClr val="black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Goal: Build an NLP model that automatically classifies reviews as Positive, Negative, or Neutral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04047F74-D3B1-4CA0-AD19-B1ADF1446FF3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2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FF2C-1AED-5910-1F4B-FDA11432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C5E7-BBEC-F653-A646-B21A3CA3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/>
              <a:t>Dataset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F7733183-C6BC-BF47-987C-A9AD790BE299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7CF17A4-1845-48C7-6862-CC366B3C9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08BE8E-6FF6-E81E-0D12-C7E00F869243}"/>
              </a:ext>
            </a:extLst>
          </p:cNvPr>
          <p:cNvSpPr txBox="1"/>
          <p:nvPr/>
        </p:nvSpPr>
        <p:spPr>
          <a:xfrm>
            <a:off x="264041" y="1267083"/>
            <a:ext cx="114955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DESCRIPTION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Source: Reviews collected from Google Maps (Majitar restaurants)</a:t>
            </a:r>
            <a:endParaRPr lang="en-US" sz="2000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Total number of reviews collected: 20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Labels: Positive, Negative, Neutral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Data manually labeled into sentiment classes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Data stored in CSV format (dataset.csv)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sp>
        <p:nvSpPr>
          <p:cNvPr id="17" name="CustomShape 5">
            <a:extLst>
              <a:ext uri="{FF2B5EF4-FFF2-40B4-BE49-F238E27FC236}">
                <a16:creationId xmlns:a16="http://schemas.microsoft.com/office/drawing/2014/main" id="{2B825D5B-E973-48AE-E1AC-ED54E6AB39FD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9399C49-39A0-C4CB-86C3-7B1CD3E1C44C}"/>
              </a:ext>
            </a:extLst>
          </p:cNvPr>
          <p:cNvSpPr/>
          <p:nvPr/>
        </p:nvSpPr>
        <p:spPr>
          <a:xfrm>
            <a:off x="9508209" y="1579877"/>
            <a:ext cx="1371601" cy="1390536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  <p:txBody>
          <a:bodyPr/>
          <a:lstStyle/>
          <a:p>
            <a:endParaRPr lang="en-IN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012BF3C2-5F66-31BE-4006-00F371975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677" y="1863086"/>
            <a:ext cx="810666" cy="8106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E4A884-FABC-5BD9-0479-3F74C2A76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21" y="3564237"/>
            <a:ext cx="11555438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73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BA8E-D282-800A-2E67-8C88D950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06ED-9B19-2F95-F4CB-B586641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779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16677005-C203-268E-3AF6-967222910811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8975450-16C1-FF44-B975-492710D36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17" name="CustomShape 5">
            <a:extLst>
              <a:ext uri="{FF2B5EF4-FFF2-40B4-BE49-F238E27FC236}">
                <a16:creationId xmlns:a16="http://schemas.microsoft.com/office/drawing/2014/main" id="{7891690C-F925-9D91-DF01-C3F9D753C184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965BC-A78D-D410-441E-FE97BF6B58D8}"/>
              </a:ext>
            </a:extLst>
          </p:cNvPr>
          <p:cNvSpPr txBox="1"/>
          <p:nvPr/>
        </p:nvSpPr>
        <p:spPr>
          <a:xfrm>
            <a:off x="252465" y="892669"/>
            <a:ext cx="114955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PIPELINE: -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Data Collection from Google Maps </a:t>
            </a:r>
            <a:endParaRPr lang="en-US" sz="2000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Text Preprocessing </a:t>
            </a:r>
            <a:br>
              <a:rPr lang="en-US" sz="2000" dirty="0"/>
            </a:br>
            <a:r>
              <a:rPr lang="en-US" sz="2000" dirty="0"/>
              <a:t>(lowercasing, removing special characters)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1A2B4A"/>
                </a:solidFill>
              </a:rPr>
              <a:t>Feature Extraction using TF-IDF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Model Training </a:t>
            </a:r>
            <a:br>
              <a:rPr lang="en-US" sz="2000" dirty="0"/>
            </a:br>
            <a:r>
              <a:rPr lang="en-US" sz="2000" dirty="0"/>
              <a:t>(Naive Bayes, Logistic Regression)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Prediction and Evaluation</a:t>
            </a:r>
            <a:endParaRPr lang="en-US" sz="2000" dirty="0">
              <a:solidFill>
                <a:srgbClr val="1A2B4A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568D92-B48B-3059-C1C1-E73FCEFA8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87" y="3447214"/>
            <a:ext cx="9280122" cy="279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7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4313-6D5C-87AA-B44B-46742E9E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353C-CAFD-85DC-1E00-A5768F90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594" y="176964"/>
            <a:ext cx="10515600" cy="1325563"/>
          </a:xfrm>
        </p:spPr>
        <p:txBody>
          <a:bodyPr/>
          <a:lstStyle/>
          <a:p>
            <a:pPr algn="ctr"/>
            <a:r>
              <a:rPr lang="en-IN" u="sng" dirty="0"/>
              <a:t>Text Preprocessing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EC64219A-79A1-3C71-044D-967330BB7467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9A180EC-610A-1712-266E-7BCAA2930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17" name="CustomShape 5">
            <a:extLst>
              <a:ext uri="{FF2B5EF4-FFF2-40B4-BE49-F238E27FC236}">
                <a16:creationId xmlns:a16="http://schemas.microsoft.com/office/drawing/2014/main" id="{CC1AAB13-838D-961D-7209-CE92D2C99A02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47F8E-9DAE-3BB9-4478-6309EAF2630F}"/>
              </a:ext>
            </a:extLst>
          </p:cNvPr>
          <p:cNvSpPr txBox="1"/>
          <p:nvPr/>
        </p:nvSpPr>
        <p:spPr>
          <a:xfrm>
            <a:off x="348215" y="1325563"/>
            <a:ext cx="1149556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PREPROCESSING?-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2B4A"/>
                </a:solidFill>
              </a:rPr>
              <a:t>Raw text has noise — uppercase letters, punctuation, numbers, and symbols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2B4A"/>
                </a:solidFill>
              </a:rPr>
              <a:t>Preprocessing standardizes text before feeding it to the ML model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920B6-B3AD-D879-5417-00F49AFCBF6E}"/>
              </a:ext>
            </a:extLst>
          </p:cNvPr>
          <p:cNvSpPr txBox="1"/>
          <p:nvPr/>
        </p:nvSpPr>
        <p:spPr>
          <a:xfrm>
            <a:off x="348215" y="5386019"/>
            <a:ext cx="11495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EXAMPLES: -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A2B4A"/>
                </a:solidFill>
              </a:rPr>
              <a:t>Original: "Food was AMAZING!!! 😍“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1A2B4A"/>
                </a:solidFill>
              </a:rPr>
              <a:t>Cleaned: "food was amazing”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00EAEF-ECDE-76BC-DC37-25D40DA0A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9" y="2335532"/>
            <a:ext cx="10547343" cy="27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8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A247-CE21-0B82-4B96-95F7F270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E1BB-08AD-3CBA-D6E9-39303F34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147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u="sng" dirty="0"/>
              <a:t>Feature Extraction (TF-IDF)</a:t>
            </a:r>
            <a:endParaRPr lang="en-IN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01A4ECDE-ADD7-398D-04D7-B060C438B59A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0D5F8D3-D1DF-E932-04FA-83F9C97FB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17" name="CustomShape 5">
            <a:extLst>
              <a:ext uri="{FF2B5EF4-FFF2-40B4-BE49-F238E27FC236}">
                <a16:creationId xmlns:a16="http://schemas.microsoft.com/office/drawing/2014/main" id="{A3EFDE96-5304-695C-3B47-49CB34B36DC1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644B7-4811-B87A-7DE2-DA1DEEF7BF34}"/>
              </a:ext>
            </a:extLst>
          </p:cNvPr>
          <p:cNvSpPr txBox="1"/>
          <p:nvPr/>
        </p:nvSpPr>
        <p:spPr>
          <a:xfrm>
            <a:off x="446191" y="1115038"/>
            <a:ext cx="1149556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OVERVIEW-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Machine Learning models cannot understand raw text directly 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Text must be converted into numerical form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rgbClr val="1A2B4A"/>
              </a:solidFill>
            </a:endParaRPr>
          </a:p>
          <a:p>
            <a:r>
              <a:rPr lang="en-US" dirty="0"/>
              <a:t>TF-IDF (Term Frequency – Inverse Document Frequency):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5747D-17BC-EA34-10BC-7AD45083A0B1}"/>
              </a:ext>
            </a:extLst>
          </p:cNvPr>
          <p:cNvSpPr txBox="1"/>
          <p:nvPr/>
        </p:nvSpPr>
        <p:spPr>
          <a:xfrm>
            <a:off x="446190" y="4443384"/>
            <a:ext cx="11495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A2B4A"/>
                </a:solidFill>
              </a:rPr>
              <a:t>FORMULA:</a:t>
            </a:r>
          </a:p>
          <a:p>
            <a:r>
              <a:rPr lang="en-IN" dirty="0">
                <a:solidFill>
                  <a:srgbClr val="1A2B4A"/>
                </a:solidFill>
              </a:rPr>
              <a:t>TF-IDF = TF x IDF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C604A4-A7E8-188D-0523-B28DB7157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90" y="2593936"/>
            <a:ext cx="11707859" cy="18195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111C2B-DAF6-2277-0220-8A570E3E7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90" y="5169324"/>
            <a:ext cx="11612596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4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F22F-AF2C-2915-0489-81CA6B7C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7A9E-5878-6E54-D99B-3A8F9B97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1077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24AC1C76-F539-D21B-9C92-19AC9013CE30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5DC6FB4-34FE-65AA-0AD1-3F74A3E51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17" name="CustomShape 5">
            <a:extLst>
              <a:ext uri="{FF2B5EF4-FFF2-40B4-BE49-F238E27FC236}">
                <a16:creationId xmlns:a16="http://schemas.microsoft.com/office/drawing/2014/main" id="{15BEED8D-1583-BDF1-0A43-4B5C8082BAB1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44D71-9202-460B-454F-ACD2414F3720}"/>
              </a:ext>
            </a:extLst>
          </p:cNvPr>
          <p:cNvSpPr txBox="1"/>
          <p:nvPr/>
        </p:nvSpPr>
        <p:spPr>
          <a:xfrm>
            <a:off x="541884" y="1310833"/>
            <a:ext cx="1149556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OVERVIEW-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After feature extraction, models are trained on the 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We used two machine learning algorithms: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E1D80-A053-6191-FA06-436C6B0EE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00" y="2694204"/>
            <a:ext cx="10345594" cy="26102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22D207-A133-CCF9-80F8-1C50E3C63617}"/>
              </a:ext>
            </a:extLst>
          </p:cNvPr>
          <p:cNvSpPr txBox="1"/>
          <p:nvPr/>
        </p:nvSpPr>
        <p:spPr>
          <a:xfrm>
            <a:off x="541883" y="5390176"/>
            <a:ext cx="11495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2B4A"/>
                </a:solidFill>
              </a:rPr>
              <a:t>Dataset split into Training and Testing sets (80:20)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0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B9AA-2831-3362-6DDA-C30D5C62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3C1B-3B36-AE34-F238-77F4EA67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1077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u="sng" dirty="0"/>
              <a:t>Results and Evaluation Metrics</a:t>
            </a:r>
            <a:endParaRPr lang="en-IN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35806F26-DBAC-A1D9-9EB3-BCB71C44A132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19EB897-246B-1333-269F-19E4889BF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17" name="CustomShape 5">
            <a:extLst>
              <a:ext uri="{FF2B5EF4-FFF2-40B4-BE49-F238E27FC236}">
                <a16:creationId xmlns:a16="http://schemas.microsoft.com/office/drawing/2014/main" id="{0D924E43-561F-03F3-80F2-058CB1E1B393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AD276-89AB-C1DA-87FB-ADC71769E519}"/>
              </a:ext>
            </a:extLst>
          </p:cNvPr>
          <p:cNvSpPr txBox="1"/>
          <p:nvPr/>
        </p:nvSpPr>
        <p:spPr>
          <a:xfrm>
            <a:off x="541884" y="1310833"/>
            <a:ext cx="11495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Model performance is evaluated using standard metrics 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10EC9D-3528-12CA-BA3F-2625AB635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85" y="2031523"/>
            <a:ext cx="11564964" cy="2248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FDD4D7-A1EF-BB2B-9325-9620AC60A9AD}"/>
              </a:ext>
            </a:extLst>
          </p:cNvPr>
          <p:cNvSpPr txBox="1"/>
          <p:nvPr/>
        </p:nvSpPr>
        <p:spPr>
          <a:xfrm>
            <a:off x="507185" y="4523373"/>
            <a:ext cx="1149556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 OBSERVATIONS-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2B4A"/>
                </a:solidFill>
                <a:latin typeface="Times New Roman" panose="02020603050405020304" pitchFamily="18" charset="0"/>
              </a:rPr>
              <a:t>Both Naive Bayes and Logistic Regression achieve ~75% accuracy on this small dataset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2B4A"/>
                </a:solidFill>
                <a:latin typeface="Times New Roman" panose="02020603050405020304" pitchFamily="18" charset="0"/>
              </a:rPr>
              <a:t>The 'neutral' class (only 1 sample) is hardest to predict — demonstrates class imbalance impact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2B4A"/>
                </a:solidFill>
                <a:latin typeface="Times New Roman" panose="02020603050405020304" pitchFamily="18" charset="0"/>
              </a:rPr>
              <a:t>F1-Score (~64%) is a more reliable metric than accuracy for this imbalanced 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Models performed better on positive reviews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Performance is limited due to small dataset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22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41C02-856D-2D5E-C525-D7A721E4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816A-2467-8B7D-68FB-A938A080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6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Predictions</a:t>
            </a: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A156C905-FAF7-577E-D096-5FB957DD55E1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3105D032-A4E3-2F36-FAA4-142B7E04E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17" name="CustomShape 5">
            <a:extLst>
              <a:ext uri="{FF2B5EF4-FFF2-40B4-BE49-F238E27FC236}">
                <a16:creationId xmlns:a16="http://schemas.microsoft.com/office/drawing/2014/main" id="{8DF30C71-7DA5-9A41-D744-DE37A12DF8E2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03D63-978F-6E9D-B396-1D15DFA146B2}"/>
              </a:ext>
            </a:extLst>
          </p:cNvPr>
          <p:cNvSpPr txBox="1"/>
          <p:nvPr/>
        </p:nvSpPr>
        <p:spPr>
          <a:xfrm>
            <a:off x="541884" y="1001633"/>
            <a:ext cx="114955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trained model was tested on new unseen reviews: </a:t>
            </a:r>
            <a:r>
              <a:rPr lang="en-US" dirty="0"/>
              <a:t> 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A46C8C-9F37-71E4-43F4-DA19DA998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509728"/>
              </p:ext>
            </p:extLst>
          </p:nvPr>
        </p:nvGraphicFramePr>
        <p:xfrm>
          <a:off x="541884" y="1409062"/>
          <a:ext cx="11108232" cy="4385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345">
                  <a:extLst>
                    <a:ext uri="{9D8B030D-6E8A-4147-A177-3AD203B41FA5}">
                      <a16:colId xmlns:a16="http://schemas.microsoft.com/office/drawing/2014/main" val="3739967201"/>
                    </a:ext>
                  </a:extLst>
                </a:gridCol>
                <a:gridCol w="2612571">
                  <a:extLst>
                    <a:ext uri="{9D8B030D-6E8A-4147-A177-3AD203B41FA5}">
                      <a16:colId xmlns:a16="http://schemas.microsoft.com/office/drawing/2014/main" val="4048123822"/>
                    </a:ext>
                  </a:extLst>
                </a:gridCol>
                <a:gridCol w="2963316">
                  <a:extLst>
                    <a:ext uri="{9D8B030D-6E8A-4147-A177-3AD203B41FA5}">
                      <a16:colId xmlns:a16="http://schemas.microsoft.com/office/drawing/2014/main" val="2582949670"/>
                    </a:ext>
                  </a:extLst>
                </a:gridCol>
              </a:tblGrid>
              <a:tr h="7309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NB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LR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78673"/>
                  </a:ext>
                </a:extLst>
              </a:tr>
              <a:tr h="73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Food was amazing and service was great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✓ Positive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✓ Positive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358479"/>
                  </a:ext>
                </a:extLst>
              </a:tr>
              <a:tr h="73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Worst food ever and rude staff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✗Negative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✗Negative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863774"/>
                  </a:ext>
                </a:extLst>
              </a:tr>
              <a:tr h="73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Food was okay but expensive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✗Negative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⚠ Positive*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994967"/>
                  </a:ext>
                </a:extLst>
              </a:tr>
              <a:tr h="73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Best biryani I have ever eaten in Majitar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✓ Positive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✓ Positive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63436"/>
                  </a:ext>
                </a:extLst>
              </a:tr>
              <a:tr h="730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Long waiting time, food was not worth it</a:t>
                      </a:r>
                      <a:endParaRPr lang="en-US" sz="1800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✗Negative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✗Negative</a:t>
                      </a:r>
                      <a:endParaRPr lang="en-US" sz="1800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8401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4B5879E-E2F5-C385-22B1-E56CF71AFF9A}"/>
              </a:ext>
            </a:extLst>
          </p:cNvPr>
          <p:cNvSpPr txBox="1"/>
          <p:nvPr/>
        </p:nvSpPr>
        <p:spPr>
          <a:xfrm>
            <a:off x="448477" y="5751308"/>
            <a:ext cx="114955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6B7C99"/>
                </a:solidFill>
                <a:latin typeface="Times New Roman" panose="02020603050405020304" pitchFamily="18" charset="0"/>
              </a:rPr>
              <a:t>* LR misclassifies mixed reviews due to class imbalance — a known limitation of small datasets.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IN" dirty="0"/>
              <a:t> </a:t>
            </a:r>
            <a:r>
              <a:rPr lang="en-US" dirty="0"/>
              <a:t> </a:t>
            </a:r>
            <a:endParaRPr lang="en-US" dirty="0">
              <a:solidFill>
                <a:srgbClr val="1A2B4A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1A2B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701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91C4D-D7BD-BBD5-657F-2FE8A075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DEF8-0099-9665-BD59-6F1B3BF68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/>
              <a:t>Limitations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C74A4C41-A15D-001B-5C89-9C5A24133CEF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17460B7-4717-BF17-27DE-F42672000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08136D7A-BA71-1658-BC91-43EDDC920F4C}"/>
              </a:ext>
            </a:extLst>
          </p:cNvPr>
          <p:cNvSpPr/>
          <p:nvPr/>
        </p:nvSpPr>
        <p:spPr>
          <a:xfrm>
            <a:off x="677405" y="1579877"/>
            <a:ext cx="10515600" cy="4862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Small dataset (only 20 reviews) limits model performance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Class imbalance (very few neutral reviews) affects prediction accuracy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Model may misclassify mixed or ambiguous reviews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TF-IDF does not capture context or word order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Basic preprocessing (no stemming or lemmatization applied)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Cannot understand sarcasm or complex language</a:t>
            </a:r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FF53F86E-4544-8770-3069-ABF7BC3491E0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839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D0B57-ACBA-3A5B-E8BE-7B12F1DD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4E15-2EAF-62B7-EE48-5506FFA50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u="sng" dirty="0"/>
              <a:t>onclusion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6CFC1C55-8794-778D-B08C-1D2B8C14AFF1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FBC2612-5983-315A-BC13-379E80E66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C68FADFD-8AFF-CCF8-64B2-663AF0E1A2CA}"/>
              </a:ext>
            </a:extLst>
          </p:cNvPr>
          <p:cNvSpPr/>
          <p:nvPr/>
        </p:nvSpPr>
        <p:spPr>
          <a:xfrm>
            <a:off x="677405" y="1579877"/>
            <a:ext cx="10515600" cy="4862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ea typeface="Calibri" pitchFamily="34" charset="-122"/>
                <a:cs typeface="Calibri" pitchFamily="34" charset="-120"/>
              </a:rPr>
              <a:t>Successfully developed a sentiment analysis model for restaurant reviews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Used TF-IDF for feature extraction and ML models for classification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Both Naive Bayes and Logistic Regression achieved ~75% accuracy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latin typeface="Times New Roman" panose="02020603050405020304" pitchFamily="18" charset="0"/>
              </a:rPr>
              <a:t>F1-Score (~64%) is the most reliable metric for this imbalanced data</a:t>
            </a:r>
            <a:r>
              <a:rPr lang="en-US" sz="2400" dirty="0"/>
              <a:t>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Model performs well on positive and negative reviews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Performance is limited due to small and imbalanced dataset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1A2B4A"/>
                </a:solidFill>
                <a:latin typeface="Times New Roman" panose="02020603050405020304" pitchFamily="18" charset="0"/>
              </a:rPr>
              <a:t>Demonstrates practical application of NLP in real-world scenarios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059F4ECD-7BD3-892D-243A-594C934ECB7D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2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E305-D6B7-01E2-9E05-BBCF06CF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E359-5BB6-A890-43DE-6A76F12E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/>
              <a:t>Future Scope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73162859-2744-46F7-898F-7FD6A5760FB6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0A6E7D3-60A6-F5B2-E54B-CDAB95953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2AD58B87-6FFE-7724-0025-B30666D35C6F}"/>
              </a:ext>
            </a:extLst>
          </p:cNvPr>
          <p:cNvSpPr/>
          <p:nvPr/>
        </p:nvSpPr>
        <p:spPr>
          <a:xfrm>
            <a:off x="677405" y="1579877"/>
            <a:ext cx="10515600" cy="4862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Increase dataset size for better model accuracy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Handle class imbalance using advanced techniques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Apply deep learning models (LSTM, GRU, Transformers)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Use pre-trained models like BERT for improved performance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Include more features like emojis, slang, and context 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/>
              <a:t>Deploy as a web or mobile application for real-time analysis </a:t>
            </a:r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28B77069-E05F-2DDF-1EC8-C35933C36076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294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9B59-AB15-1428-FC1A-3FE4E091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53A7-E575-3BA5-2CE7-183A3510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57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Code</a:t>
            </a:r>
          </a:p>
        </p:txBody>
      </p:sp>
      <p:sp>
        <p:nvSpPr>
          <p:cNvPr id="4" name="TextShape 4">
            <a:extLst>
              <a:ext uri="{FF2B5EF4-FFF2-40B4-BE49-F238E27FC236}">
                <a16:creationId xmlns:a16="http://schemas.microsoft.com/office/drawing/2014/main" id="{71CA936A-5BC4-160A-5BD4-D90F992854D7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83E1BB8-9FF5-5A94-7561-289123E71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F4DE8DA5-BC97-26DC-8343-A1292BE34AFE}"/>
              </a:ext>
            </a:extLst>
          </p:cNvPr>
          <p:cNvSpPr/>
          <p:nvPr/>
        </p:nvSpPr>
        <p:spPr>
          <a:xfrm>
            <a:off x="677405" y="1579877"/>
            <a:ext cx="10515600" cy="4862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400" dirty="0" err="1"/>
              <a:t>Github</a:t>
            </a:r>
            <a:r>
              <a:rPr lang="en-US" sz="2400" dirty="0"/>
              <a:t> Repository: - </a:t>
            </a:r>
            <a:r>
              <a:rPr lang="en-US" sz="2400" dirty="0">
                <a:hlinkClick r:id="rId3"/>
              </a:rPr>
              <a:t>https://github.com/Dey70/Sentiment-Analysis-Majitar</a:t>
            </a:r>
            <a:r>
              <a:rPr lang="en-US" sz="2400" dirty="0"/>
              <a:t> </a:t>
            </a:r>
          </a:p>
        </p:txBody>
      </p:sp>
      <p:sp>
        <p:nvSpPr>
          <p:cNvPr id="8" name="CustomShape 5">
            <a:extLst>
              <a:ext uri="{FF2B5EF4-FFF2-40B4-BE49-F238E27FC236}">
                <a16:creationId xmlns:a16="http://schemas.microsoft.com/office/drawing/2014/main" id="{CDBCDD87-BD66-BFE0-95C0-8D23C0179322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556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C856A-BEAC-3629-AFCD-4554D8AE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4">
            <a:extLst>
              <a:ext uri="{FF2B5EF4-FFF2-40B4-BE49-F238E27FC236}">
                <a16:creationId xmlns:a16="http://schemas.microsoft.com/office/drawing/2014/main" id="{A9BEFF13-A430-B9F8-B0D8-629D3AF805B1}"/>
              </a:ext>
            </a:extLst>
          </p:cNvPr>
          <p:cNvSpPr txBox="1"/>
          <p:nvPr/>
        </p:nvSpPr>
        <p:spPr>
          <a:xfrm>
            <a:off x="0" y="6384925"/>
            <a:ext cx="12192000" cy="472715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Department of </a:t>
            </a:r>
            <a:r>
              <a:rPr lang="en-US" sz="1200" b="1" dirty="0">
                <a:solidFill>
                  <a:srgbClr val="8B8B8B"/>
                </a:solidFill>
                <a:latin typeface="Calibri"/>
              </a:rPr>
              <a:t>AI&amp;DS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1200" b="1" dirty="0">
                <a:solidFill>
                  <a:srgbClr val="8B8B8B"/>
                </a:solidFill>
                <a:latin typeface="Calibri"/>
              </a:rPr>
              <a:t>Sikkim Manipal Institute of Technology,  SMU</a:t>
            </a:r>
            <a:endParaRPr dirty="0"/>
          </a:p>
        </p:txBody>
      </p:sp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4A6E628-AA72-0E61-BD8D-B609B073C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010" y="6339729"/>
            <a:ext cx="1997990" cy="518271"/>
          </a:xfrm>
          <a:prstGeom prst="rect">
            <a:avLst/>
          </a:prstGeom>
        </p:spPr>
      </p:pic>
      <p:sp>
        <p:nvSpPr>
          <p:cNvPr id="8" name="CustomShape 5">
            <a:extLst>
              <a:ext uri="{FF2B5EF4-FFF2-40B4-BE49-F238E27FC236}">
                <a16:creationId xmlns:a16="http://schemas.microsoft.com/office/drawing/2014/main" id="{6F497753-FBF6-FB88-D064-D28271AB2F01}"/>
              </a:ext>
            </a:extLst>
          </p:cNvPr>
          <p:cNvSpPr/>
          <p:nvPr/>
        </p:nvSpPr>
        <p:spPr>
          <a:xfrm>
            <a:off x="0" y="0"/>
            <a:ext cx="12192000" cy="30456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Topic- Sentiment Analysis of Google Reviews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8B0AF-B421-0AE6-618D-F56104B07636}"/>
              </a:ext>
            </a:extLst>
          </p:cNvPr>
          <p:cNvSpPr txBox="1"/>
          <p:nvPr/>
        </p:nvSpPr>
        <p:spPr>
          <a:xfrm>
            <a:off x="2810539" y="2764465"/>
            <a:ext cx="6570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1825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DE1C2D74C82F4DB35A6717F23268C9" ma:contentTypeVersion="10" ma:contentTypeDescription="Create a new document." ma:contentTypeScope="" ma:versionID="deeb5f9547797bd340be9be5d5a65758">
  <xsd:schema xmlns:xsd="http://www.w3.org/2001/XMLSchema" xmlns:xs="http://www.w3.org/2001/XMLSchema" xmlns:p="http://schemas.microsoft.com/office/2006/metadata/properties" xmlns:ns2="cd5d5800-f1d6-4d70-a227-ce178e2b8e5c" xmlns:ns3="ef0e0cd4-0592-444b-86c5-326ff4450450" targetNamespace="http://schemas.microsoft.com/office/2006/metadata/properties" ma:root="true" ma:fieldsID="8a78b33bef4d61a1d5b56c54ab7b15ab" ns2:_="" ns3:_="">
    <xsd:import namespace="cd5d5800-f1d6-4d70-a227-ce178e2b8e5c"/>
    <xsd:import namespace="ef0e0cd4-0592-444b-86c5-326ff44504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d5800-f1d6-4d70-a227-ce178e2b8e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0e0cd4-0592-444b-86c5-326ff44504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F1C335-8640-4CF7-800D-956BE664BE23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B2FE558-15C7-403B-BECC-B4013BACA1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6E2AC0-B8B4-4742-8E4B-A332012576A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d5d5800-f1d6-4d70-a227-ce178e2b8e5c"/>
    <ds:schemaRef ds:uri="ef0e0cd4-0592-444b-86c5-326ff445045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1026</Words>
  <Application>Microsoft Office PowerPoint</Application>
  <PresentationFormat>Widescreen</PresentationFormat>
  <Paragraphs>182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TT Rounds Condensed</vt:lpstr>
      <vt:lpstr>Wingdings</vt:lpstr>
      <vt:lpstr>Office Theme</vt:lpstr>
      <vt:lpstr>PowerPoint Presentation</vt:lpstr>
      <vt:lpstr>Table of Contents</vt:lpstr>
      <vt:lpstr>Introduction</vt:lpstr>
      <vt:lpstr>Problem Statement</vt:lpstr>
      <vt:lpstr>Dataset</vt:lpstr>
      <vt:lpstr>Methodology</vt:lpstr>
      <vt:lpstr>Text Preprocessing</vt:lpstr>
      <vt:lpstr>Feature Extraction (TF-IDF)</vt:lpstr>
      <vt:lpstr>Model Used</vt:lpstr>
      <vt:lpstr>Results and Evaluation Metrics</vt:lpstr>
      <vt:lpstr>Sample Predictions</vt:lpstr>
      <vt:lpstr>Limitations</vt:lpstr>
      <vt:lpstr>Conclusion</vt:lpstr>
      <vt:lpstr>Future Scope</vt:lpstr>
      <vt:lpstr>Project 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Project Synopsis Presentation​ on​ Automated Application Intelligence</dc:title>
  <dc:creator>Microsoft account</dc:creator>
  <cp:lastModifiedBy>Rajdeep Dey</cp:lastModifiedBy>
  <cp:revision>322</cp:revision>
  <dcterms:created xsi:type="dcterms:W3CDTF">2022-02-24T11:03:16Z</dcterms:created>
  <dcterms:modified xsi:type="dcterms:W3CDTF">2026-04-24T08:49:16Z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0x0101007FDE1C2D74C82F4DB35A6717F23268C9</vt:lpwstr>
  </property>
</Properties>
</file>